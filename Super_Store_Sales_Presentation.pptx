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F3460">
              <a:alpha val="40000"/>
            </a:srgbClr>
          </a:solidFill>
          <a:ln w="12700">
            <a:solidFill>
              <a:srgbClr val="0F346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533483">
              <a:alpha val="35000"/>
            </a:srgbClr>
          </a:solidFill>
          <a:ln w="12700">
            <a:solidFill>
              <a:srgbClr val="533483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STORE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8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  ·  India E-Commerce Market  ·  Multi-Channel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1920240" cy="1188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₹21.18M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611880"/>
            <a:ext cx="1920240" cy="1188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28,471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611880"/>
            <a:ext cx="1920240" cy="1188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634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31,237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3611880"/>
            <a:ext cx="1920240" cy="1188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Sales Analytics Team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Aims to Achieve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6583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89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Sales Performance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910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revenue, order volume, and quantity trends across FY 2022 to identify performance patterns.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29968"/>
            <a:ext cx="54864" cy="6583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396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Analysis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34086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age, gender, and geography to understand who buys what and from where.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841248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79776"/>
            <a:ext cx="54864" cy="6583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895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Category Benchmarking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0906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7 sales channels and 8 product categories to identify top performers.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29584"/>
            <a:ext cx="8412480" cy="658368"/>
          </a:xfrm>
          <a:prstGeom prst="rect">
            <a:avLst/>
          </a:prstGeom>
          <a:solidFill>
            <a:srgbClr val="E8EC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29584"/>
            <a:ext cx="54864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393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3584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Creation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38404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Excel dashboard with visual KPIs for quick business decision-making.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79392"/>
            <a:ext cx="8412480" cy="658368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279392"/>
            <a:ext cx="54864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89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05840" y="4334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5902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8 data-driven business recommendations to drive growth and improve profitability.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1920240" cy="1188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50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31,047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1920240" cy="1188720"/>
          </a:xfrm>
          <a:prstGeom prst="rect">
            <a:avLst/>
          </a:prstGeom>
          <a:solidFill>
            <a:srgbClr val="53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850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20240" cy="11887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850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Jan–Dec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822960"/>
            <a:ext cx="1920240" cy="118872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850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1234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1645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148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560320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606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 Identifiers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27980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Cust ID, SKU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60320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606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7980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Age Group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127248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127248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172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Product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364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Size, Qty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127248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27248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1729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3649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Currency (INR)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694176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694176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3739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Channel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(7 platforms)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694176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694176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739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Geography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City, State, Country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4261104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61104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4306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Temporal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" y="4498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Month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4261104"/>
            <a:ext cx="4114800" cy="475488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261104"/>
            <a:ext cx="54864" cy="47548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4306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Status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4498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(4 types)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Super Store Dataset  ·  Currency: INR  ·  Country: India (IN)  ·  B2B &amp; B2C Orders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12618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64008" cy="12618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170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found across all 21 columns in 31,047 records.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12618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04672"/>
            <a:ext cx="64008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91440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40680" y="1170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463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IDs verified for uniqueness; 28,471 distinct orders confirmed.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194560"/>
            <a:ext cx="4114800" cy="12618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194560"/>
            <a:ext cx="64008" cy="12618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304288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Correction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852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parsed to datetime64; Amount/Qty confirmed as int64; Boolean B2B correct.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194560"/>
            <a:ext cx="4114800" cy="12618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94560"/>
            <a:ext cx="64008" cy="1261872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8" name="Shape 26"/>
          <p:cNvSpPr/>
          <p:nvPr/>
        </p:nvSpPr>
        <p:spPr>
          <a:xfrm>
            <a:off x="4892040" y="2304288"/>
            <a:ext cx="457200" cy="457200"/>
          </a:xfrm>
          <a:prstGeom prst="ellipse">
            <a:avLst/>
          </a:prstGeom>
          <a:solidFill>
            <a:srgbClr val="533483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Standardization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8529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whitespace; standardized to 'Men' and 'Women' — 2 unique values only.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584448"/>
            <a:ext cx="4114800" cy="12618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584448"/>
            <a:ext cx="64008" cy="126187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694176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584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Name Normalization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2428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title-case to ship state; standardized all 30+ state names consistently.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584448"/>
            <a:ext cx="4114800" cy="1261872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584448"/>
            <a:ext cx="64008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694176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3675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Added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4068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2428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Created: Month_Year, Profit (18% margin), Revenue Category (Low/Med/High), Order Count per Customer.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19202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14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₹21.18M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2022 Full Year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697480" cy="192024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914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463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28,471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4612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331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 IDs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822960"/>
            <a:ext cx="2697480" cy="1920240"/>
          </a:xfrm>
          <a:prstGeom prst="rect">
            <a:avLst/>
          </a:prstGeom>
          <a:solidFill>
            <a:srgbClr val="53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914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146304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31,237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3317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2697480" cy="19202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017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4348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697480" cy="192024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46120" y="3017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💹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4612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₹3.81M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461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Profit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44348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@18% Net Margin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926080"/>
            <a:ext cx="2697480" cy="1920240"/>
          </a:xfrm>
          <a:prstGeom prst="rect">
            <a:avLst/>
          </a:prstGeom>
          <a:solidFill>
            <a:srgbClr val="6B42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3017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72200" y="35661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17220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44348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B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Delivered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TRENDS &amp; CATEGORY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822960"/>
            <a:ext cx="5303520" cy="292608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(INR)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305942"/>
            <a:ext cx="320040" cy="198589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57784" y="1104774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033272" y="1245587"/>
            <a:ext cx="320040" cy="2046253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1014984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96696" y="1044419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472184" y="1188720"/>
            <a:ext cx="320040" cy="21031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1453896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435608" y="98755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911096" y="1296494"/>
            <a:ext cx="320040" cy="1995346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1892808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74520" y="109532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350008" y="1330789"/>
            <a:ext cx="320040" cy="196105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13432" y="1129621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788920" y="1381899"/>
            <a:ext cx="320040" cy="190994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2770632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752344" y="1180731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227832" y="1358628"/>
            <a:ext cx="320040" cy="193321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209544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91256" y="115746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666744" y="1319136"/>
            <a:ext cx="320040" cy="1972704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9" name="Text 27"/>
          <p:cNvSpPr/>
          <p:nvPr/>
        </p:nvSpPr>
        <p:spPr>
          <a:xfrm>
            <a:off x="3648456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30168" y="111796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105656" y="1449632"/>
            <a:ext cx="320040" cy="18422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087368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069080" y="1248464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544568" y="1473858"/>
            <a:ext cx="320040" cy="181798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07992" y="127269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983480" y="1529822"/>
            <a:ext cx="320040" cy="176201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4965192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946904" y="1328654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422392" y="1522539"/>
            <a:ext cx="320040" cy="1769301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5404104" y="3337560"/>
            <a:ext cx="356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85816" y="1321371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365760" y="3840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Peak: March ₹1.93M  |  Low: November ₹1.62M  |  Δ Range: ₹0.31M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43600" y="777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43600" y="11704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78040" y="1216152"/>
            <a:ext cx="1645920" cy="20116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47" name="Shape 45"/>
          <p:cNvSpPr/>
          <p:nvPr/>
        </p:nvSpPr>
        <p:spPr>
          <a:xfrm>
            <a:off x="7178040" y="1216152"/>
            <a:ext cx="1451336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8" name="Text 46"/>
          <p:cNvSpPr/>
          <p:nvPr/>
        </p:nvSpPr>
        <p:spPr>
          <a:xfrm>
            <a:off x="8869680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41080" y="1444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₹10.51M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943600" y="1810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178040" y="1856232"/>
            <a:ext cx="1645920" cy="20116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52" name="Shape 50"/>
          <p:cNvSpPr/>
          <p:nvPr/>
        </p:nvSpPr>
        <p:spPr>
          <a:xfrm>
            <a:off x="7178040" y="1856232"/>
            <a:ext cx="684703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3" name="Text 51"/>
          <p:cNvSpPr/>
          <p:nvPr/>
        </p:nvSpPr>
        <p:spPr>
          <a:xfrm>
            <a:off x="8869680" y="1810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641080" y="20848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₹4.96M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943600" y="2450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Dress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78040" y="2496312"/>
            <a:ext cx="1645920" cy="20116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57" name="Shape 55"/>
          <p:cNvSpPr/>
          <p:nvPr/>
        </p:nvSpPr>
        <p:spPr>
          <a:xfrm>
            <a:off x="7178040" y="2496312"/>
            <a:ext cx="435986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58" name="Text 56"/>
          <p:cNvSpPr/>
          <p:nvPr/>
        </p:nvSpPr>
        <p:spPr>
          <a:xfrm>
            <a:off x="8869680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14.9%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641080" y="27249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₹3.15M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43600" y="3090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040" y="3136392"/>
            <a:ext cx="1645920" cy="20116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62" name="Shape 60"/>
          <p:cNvSpPr/>
          <p:nvPr/>
        </p:nvSpPr>
        <p:spPr>
          <a:xfrm>
            <a:off x="7178040" y="3136392"/>
            <a:ext cx="16386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3" name="Text 61"/>
          <p:cNvSpPr/>
          <p:nvPr/>
        </p:nvSpPr>
        <p:spPr>
          <a:xfrm>
            <a:off x="8869680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641080" y="336499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₹1.19M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594360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78040" y="3776472"/>
            <a:ext cx="1645920" cy="20116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67" name="Shape 65"/>
          <p:cNvSpPr/>
          <p:nvPr/>
        </p:nvSpPr>
        <p:spPr>
          <a:xfrm>
            <a:off x="7178040" y="3776472"/>
            <a:ext cx="140452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8" name="Text 66"/>
          <p:cNvSpPr/>
          <p:nvPr/>
        </p:nvSpPr>
        <p:spPr>
          <a:xfrm>
            <a:off x="8869680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641080" y="40050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₹1.01M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94360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178040" y="4416552"/>
            <a:ext cx="1645920" cy="201168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72" name="Shape 70"/>
          <p:cNvSpPr/>
          <p:nvPr/>
        </p:nvSpPr>
        <p:spPr>
          <a:xfrm>
            <a:off x="7178040" y="4416552"/>
            <a:ext cx="49743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3" name="Text 71"/>
          <p:cNvSpPr/>
          <p:nvPr/>
        </p:nvSpPr>
        <p:spPr>
          <a:xfrm>
            <a:off x="8869680" y="43708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641080" y="4645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&amp; GEOGRAPHIC REACH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Revenue Breakdown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43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11,016 orders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30759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1691640" y="1307592"/>
            <a:ext cx="1983740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307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73736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737360"/>
            <a:ext cx="54864" cy="4572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7922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Myntra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19751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7,254 orders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91640" y="185623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1856232"/>
            <a:ext cx="1302004" cy="20116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18562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86000"/>
            <a:ext cx="54864" cy="457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40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2523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6,703 orders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240487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1640" y="2404872"/>
            <a:ext cx="1207008" cy="20116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240487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83464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2834640"/>
            <a:ext cx="54864" cy="4572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8895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Ajio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30723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1,931 orders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91640" y="295351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1640" y="2953512"/>
            <a:ext cx="352044" cy="201168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2953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38328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3832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438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Nalli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6210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1,484 orders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91640" y="350215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9" name="Shape 37"/>
          <p:cNvSpPr/>
          <p:nvPr/>
        </p:nvSpPr>
        <p:spPr>
          <a:xfrm>
            <a:off x="1691640" y="3502152"/>
            <a:ext cx="268224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3749040" y="3502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93192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931920"/>
            <a:ext cx="54864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3986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41696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1,398 orders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691640" y="405079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6" name="Shape 44"/>
          <p:cNvSpPr/>
          <p:nvPr/>
        </p:nvSpPr>
        <p:spPr>
          <a:xfrm>
            <a:off x="1691640" y="4050792"/>
            <a:ext cx="245872" cy="2011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7" name="Text 45"/>
          <p:cNvSpPr/>
          <p:nvPr/>
        </p:nvSpPr>
        <p:spPr>
          <a:xfrm>
            <a:off x="3749040" y="40507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480560"/>
            <a:ext cx="4023360" cy="4572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4480560"/>
            <a:ext cx="54864" cy="457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45354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2920" y="4718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1,261 orders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691640" y="4599432"/>
            <a:ext cx="2011680" cy="2011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3" name="Shape 51"/>
          <p:cNvSpPr/>
          <p:nvPr/>
        </p:nvSpPr>
        <p:spPr>
          <a:xfrm>
            <a:off x="1691640" y="4599432"/>
            <a:ext cx="229108" cy="201168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4" name="Text 52"/>
          <p:cNvSpPr/>
          <p:nvPr/>
        </p:nvSpPr>
        <p:spPr>
          <a:xfrm>
            <a:off x="3749040" y="45994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46320" y="777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 by Revenue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846320" y="11704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166360" y="11704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49440" y="1225296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9" name="Shape 57"/>
          <p:cNvSpPr/>
          <p:nvPr/>
        </p:nvSpPr>
        <p:spPr>
          <a:xfrm>
            <a:off x="6949440" y="1225296"/>
            <a:ext cx="1547165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0" name="Text 58"/>
          <p:cNvSpPr/>
          <p:nvPr/>
        </p:nvSpPr>
        <p:spPr>
          <a:xfrm>
            <a:off x="8641080" y="117043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₹2.99M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846320" y="1554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166360" y="1554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949440" y="1609344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4" name="Shape 62"/>
          <p:cNvSpPr/>
          <p:nvPr/>
        </p:nvSpPr>
        <p:spPr>
          <a:xfrm>
            <a:off x="6949440" y="1609344"/>
            <a:ext cx="13716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5" name="Text 63"/>
          <p:cNvSpPr/>
          <p:nvPr/>
        </p:nvSpPr>
        <p:spPr>
          <a:xfrm>
            <a:off x="8641080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₹2.65M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846320" y="193852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166360" y="1938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49440" y="1993392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9" name="Shape 67"/>
          <p:cNvSpPr/>
          <p:nvPr/>
        </p:nvSpPr>
        <p:spPr>
          <a:xfrm>
            <a:off x="6949440" y="1993392"/>
            <a:ext cx="1086307" cy="1828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0" name="Text 68"/>
          <p:cNvSpPr/>
          <p:nvPr/>
        </p:nvSpPr>
        <p:spPr>
          <a:xfrm>
            <a:off x="8641080" y="19385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₹2.10M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846320" y="23225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166360" y="232257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949440" y="2377440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4" name="Shape 72"/>
          <p:cNvSpPr/>
          <p:nvPr/>
        </p:nvSpPr>
        <p:spPr>
          <a:xfrm>
            <a:off x="6949440" y="2377440"/>
            <a:ext cx="888797" cy="1828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75" name="Text 73"/>
          <p:cNvSpPr/>
          <p:nvPr/>
        </p:nvSpPr>
        <p:spPr>
          <a:xfrm>
            <a:off x="8641080" y="23225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₹1.71M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846320" y="2706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166360" y="27066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6949440" y="2761488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9" name="Shape 77"/>
          <p:cNvSpPr/>
          <p:nvPr/>
        </p:nvSpPr>
        <p:spPr>
          <a:xfrm>
            <a:off x="6949440" y="2761488"/>
            <a:ext cx="866851" cy="1828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0" name="Text 78"/>
          <p:cNvSpPr/>
          <p:nvPr/>
        </p:nvSpPr>
        <p:spPr>
          <a:xfrm>
            <a:off x="8641080" y="27066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₹1.68M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846320" y="30906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166360" y="3090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949440" y="3145536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4" name="Shape 82"/>
          <p:cNvSpPr/>
          <p:nvPr/>
        </p:nvSpPr>
        <p:spPr>
          <a:xfrm>
            <a:off x="6949440" y="3145536"/>
            <a:ext cx="658368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5" name="Text 83"/>
          <p:cNvSpPr/>
          <p:nvPr/>
        </p:nvSpPr>
        <p:spPr>
          <a:xfrm>
            <a:off x="8641080" y="30906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₹1.27M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846320" y="347472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5166360" y="3474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9440" y="3529584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89" name="Shape 87"/>
          <p:cNvSpPr/>
          <p:nvPr/>
        </p:nvSpPr>
        <p:spPr>
          <a:xfrm>
            <a:off x="6949440" y="3529584"/>
            <a:ext cx="526694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0" name="Text 88"/>
          <p:cNvSpPr/>
          <p:nvPr/>
        </p:nvSpPr>
        <p:spPr>
          <a:xfrm>
            <a:off x="8641080" y="34747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₹1.01M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846320" y="38587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5166360" y="38587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949440" y="3913632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4" name="Shape 92"/>
          <p:cNvSpPr/>
          <p:nvPr/>
        </p:nvSpPr>
        <p:spPr>
          <a:xfrm>
            <a:off x="6949440" y="3913632"/>
            <a:ext cx="482803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5" name="Text 93"/>
          <p:cNvSpPr/>
          <p:nvPr/>
        </p:nvSpPr>
        <p:spPr>
          <a:xfrm>
            <a:off x="8641080" y="38587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₹0.92M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846320" y="42428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5166360" y="424281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949440" y="4297680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9" name="Shape 97"/>
          <p:cNvSpPr/>
          <p:nvPr/>
        </p:nvSpPr>
        <p:spPr>
          <a:xfrm>
            <a:off x="6949440" y="4297680"/>
            <a:ext cx="471830" cy="1828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0" name="Text 98"/>
          <p:cNvSpPr/>
          <p:nvPr/>
        </p:nvSpPr>
        <p:spPr>
          <a:xfrm>
            <a:off x="8641080" y="42428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₹0.92M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4846320" y="462686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5166360" y="46268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949440" y="4681728"/>
            <a:ext cx="1645920" cy="1828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6949440" y="4681728"/>
            <a:ext cx="416966" cy="18288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05" name="Text 103"/>
          <p:cNvSpPr/>
          <p:nvPr/>
        </p:nvSpPr>
        <p:spPr>
          <a:xfrm>
            <a:off x="8641080" y="46268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₹0.81M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926080" cy="292608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2011680" cy="201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498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274320" cy="2286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Women: ₹13.56M (64.0%)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274320" cy="228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Men: ₹7.61M (36.0%)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74980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Age Group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1143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(18-45)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1463040"/>
            <a:ext cx="5029200" cy="3200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1463040"/>
            <a:ext cx="4836414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18013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57.7%  (₹12.23M)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(46-65)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331720"/>
            <a:ext cx="5029200" cy="3200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2331720"/>
            <a:ext cx="2522982" cy="32004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670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  (₹6.38M)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(65+)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3200400"/>
            <a:ext cx="5029200" cy="320040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3200400"/>
            <a:ext cx="1014222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35387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12.1%  (₹2.57M)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6576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0" y="3977640"/>
            <a:ext cx="1188720" cy="6858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57600" y="4315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0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0" y="3977640"/>
            <a:ext cx="1188720" cy="685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4315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3977640"/>
            <a:ext cx="1188720" cy="685800"/>
          </a:xfrm>
          <a:prstGeom prst="rect">
            <a:avLst/>
          </a:prstGeom>
          <a:solidFill>
            <a:srgbClr val="E945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0080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315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400800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772400" y="3977640"/>
            <a:ext cx="1188720" cy="685800"/>
          </a:xfrm>
          <a:prstGeom prst="rect">
            <a:avLst/>
          </a:prstGeom>
          <a:solidFill>
            <a:srgbClr val="533483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72400" y="3995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0" y="4315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772400" y="4709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3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DATA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2296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1024128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8408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1170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49.6% of revenue (₹10.51M) from Set category alone — 2x the next category.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4608" y="10241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13248" y="896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Dominates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13248" y="1170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drives 35.5% of revenue. Myntra &amp; Flipkart together add 45%.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87452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1874520"/>
            <a:ext cx="54864" cy="9144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19" name="Shape 17"/>
          <p:cNvSpPr/>
          <p:nvPr/>
        </p:nvSpPr>
        <p:spPr>
          <a:xfrm>
            <a:off x="429768" y="2075688"/>
            <a:ext cx="457200" cy="457200"/>
          </a:xfrm>
          <a:prstGeom prst="ellipse">
            <a:avLst/>
          </a:prstGeom>
          <a:solidFill>
            <a:srgbClr val="533483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7840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= 64%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8408" y="2221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contribute ₹13.56M. Women's fashion is the core revenue engine.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87452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87452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864608" y="207568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13248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India Leads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13248" y="2221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+ Karnataka = 26.6% of all India revenue.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92608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26080"/>
            <a:ext cx="54864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" y="3127248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2" name="Text 30"/>
          <p:cNvSpPr/>
          <p:nvPr/>
        </p:nvSpPr>
        <p:spPr>
          <a:xfrm>
            <a:off x="4297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7840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Peak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78408" y="3273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strongest. Oct–Dec revenue dips by ~15% — festive opportunity gap.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26080"/>
            <a:ext cx="54864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7" name="Shape 35"/>
          <p:cNvSpPr/>
          <p:nvPr/>
        </p:nvSpPr>
        <p:spPr>
          <a:xfrm>
            <a:off x="4864608" y="3127248"/>
            <a:ext cx="457200" cy="457200"/>
          </a:xfrm>
          <a:prstGeom prst="ellipse">
            <a:avLst/>
          </a:prstGeom>
          <a:solidFill>
            <a:srgbClr val="0F3460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💹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1324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Operations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13248" y="32735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delivery success rate with only 1.7% refunds — high operational health.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97764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977640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3" name="Shape 41"/>
          <p:cNvSpPr/>
          <p:nvPr/>
        </p:nvSpPr>
        <p:spPr>
          <a:xfrm>
            <a:off x="429768" y="4178808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44" name="Text 42"/>
          <p:cNvSpPr/>
          <p:nvPr/>
        </p:nvSpPr>
        <p:spPr>
          <a:xfrm>
            <a:off x="42976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👴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78408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Underserved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78408" y="4325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age group = only 12.1% revenue despite significant population share.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977640"/>
            <a:ext cx="4114800" cy="9144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977640"/>
            <a:ext cx="54864" cy="914400"/>
          </a:xfrm>
          <a:prstGeom prst="rect">
            <a:avLst/>
          </a:prstGeom>
          <a:solidFill>
            <a:srgbClr val="888800"/>
          </a:solidFill>
          <a:ln/>
        </p:spPr>
      </p:sp>
      <p:sp>
        <p:nvSpPr>
          <p:cNvPr id="49" name="Shape 47"/>
          <p:cNvSpPr/>
          <p:nvPr/>
        </p:nvSpPr>
        <p:spPr>
          <a:xfrm>
            <a:off x="4864608" y="4178808"/>
            <a:ext cx="457200" cy="457200"/>
          </a:xfrm>
          <a:prstGeom prst="ellipse">
            <a:avLst/>
          </a:prstGeom>
          <a:solidFill>
            <a:srgbClr val="888800"/>
          </a:solidFill>
          <a:ln/>
        </p:spPr>
      </p:sp>
      <p:sp>
        <p:nvSpPr>
          <p:cNvPr id="50" name="Text 48"/>
          <p:cNvSpPr/>
          <p:nvPr/>
        </p:nvSpPr>
        <p:spPr>
          <a:xfrm>
            <a:off x="4864608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413248" y="4050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13248" y="4325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categories = 73%, top 2 channels = 58% — diversification needed.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0467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54864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Shape 5"/>
          <p:cNvSpPr/>
          <p:nvPr/>
        </p:nvSpPr>
        <p:spPr>
          <a:xfrm>
            <a:off x="3703320" y="896112"/>
            <a:ext cx="594360" cy="25603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896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29768" y="9875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877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Set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170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Set SKUs by 20-30%; focus on premium INR 1,500+ band.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04672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896112"/>
            <a:ext cx="594360" cy="25603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89611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64608" y="9875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877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Channels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117043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Amazon dependency; invest in D2C, Ajio, Meesho growth.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85623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1856232"/>
            <a:ext cx="54864" cy="914400"/>
          </a:xfrm>
          <a:prstGeom prst="rect">
            <a:avLst/>
          </a:prstGeom>
          <a:solidFill>
            <a:srgbClr val="533483"/>
          </a:solidFill>
          <a:ln/>
        </p:spPr>
      </p:sp>
      <p:sp>
        <p:nvSpPr>
          <p:cNvPr id="21" name="Shape 19"/>
          <p:cNvSpPr/>
          <p:nvPr/>
        </p:nvSpPr>
        <p:spPr>
          <a:xfrm>
            <a:off x="3703320" y="1947672"/>
            <a:ext cx="594360" cy="25603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19476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29768" y="20391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👩‍💼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Women 25-40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2221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women-focused loyalty, influencer, and personalised email flows.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85623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856232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Shape 26"/>
          <p:cNvSpPr/>
          <p:nvPr/>
        </p:nvSpPr>
        <p:spPr>
          <a:xfrm>
            <a:off x="8138160" y="1947672"/>
            <a:ext cx="594360" cy="256032"/>
          </a:xfrm>
          <a:prstGeom prst="rect">
            <a:avLst/>
          </a:prstGeom>
          <a:solidFill>
            <a:srgbClr val="886600"/>
          </a:solidFill>
          <a:ln/>
        </p:spPr>
      </p:sp>
      <p:sp>
        <p:nvSpPr>
          <p:cNvPr id="29" name="Text 27"/>
          <p:cNvSpPr/>
          <p:nvPr/>
        </p:nvSpPr>
        <p:spPr>
          <a:xfrm>
            <a:off x="8138160" y="19476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64608" y="20391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Tier-2 Cities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221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MH/KA saturation, target Nagpur, Nashik, Mysore, Coimbatore.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290779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907792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3703320" y="2999232"/>
            <a:ext cx="594360" cy="25603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36" name="Text 34"/>
          <p:cNvSpPr/>
          <p:nvPr/>
        </p:nvSpPr>
        <p:spPr>
          <a:xfrm>
            <a:off x="3703320" y="2999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9768" y="3090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🎆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4400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Festive Campaigns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Oct-Dec dip with Diwali bundles, flash sales &amp; gift sets.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290779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907792"/>
            <a:ext cx="54864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2999232"/>
            <a:ext cx="594360" cy="256032"/>
          </a:xfrm>
          <a:prstGeom prst="rect">
            <a:avLst/>
          </a:prstGeom>
          <a:solidFill>
            <a:srgbClr val="886600"/>
          </a:solidFill>
          <a:ln/>
        </p:spPr>
      </p:sp>
      <p:sp>
        <p:nvSpPr>
          <p:cNvPr id="43" name="Text 41"/>
          <p:cNvSpPr/>
          <p:nvPr/>
        </p:nvSpPr>
        <p:spPr>
          <a:xfrm>
            <a:off x="8138160" y="29992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64608" y="30906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👴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49240" y="2980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Focus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49240" y="3273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easy-wear collections + easy-return for 65+ segment.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95935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3959352"/>
            <a:ext cx="54864" cy="9144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9" name="Shape 47"/>
          <p:cNvSpPr/>
          <p:nvPr/>
        </p:nvSpPr>
        <p:spPr>
          <a:xfrm>
            <a:off x="3703320" y="4050792"/>
            <a:ext cx="594360" cy="256032"/>
          </a:xfrm>
          <a:prstGeom prst="rect">
            <a:avLst/>
          </a:prstGeom>
          <a:solidFill>
            <a:srgbClr val="886600"/>
          </a:solidFill>
          <a:ln/>
        </p:spPr>
      </p:sp>
      <p:sp>
        <p:nvSpPr>
          <p:cNvPr id="50" name="Text 48"/>
          <p:cNvSpPr/>
          <p:nvPr/>
        </p:nvSpPr>
        <p:spPr>
          <a:xfrm>
            <a:off x="3703320" y="40507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29768" y="41422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440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B2B Funnels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14400" y="4325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B2B pricing tiers and bulk-order flows for institutional buyers.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3959352"/>
            <a:ext cx="4114800" cy="91440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3959352"/>
            <a:ext cx="54864" cy="9144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6" name="Shape 54"/>
          <p:cNvSpPr/>
          <p:nvPr/>
        </p:nvSpPr>
        <p:spPr>
          <a:xfrm>
            <a:off x="8138160" y="4050792"/>
            <a:ext cx="594360" cy="256032"/>
          </a:xfrm>
          <a:prstGeom prst="rect">
            <a:avLst/>
          </a:prstGeom>
          <a:solidFill>
            <a:srgbClr val="CC2200"/>
          </a:solidFill>
          <a:ln/>
        </p:spPr>
      </p:sp>
      <p:sp>
        <p:nvSpPr>
          <p:cNvPr id="57" name="Text 55"/>
          <p:cNvSpPr/>
          <p:nvPr/>
        </p:nvSpPr>
        <p:spPr>
          <a:xfrm>
            <a:off x="8138160" y="40507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64608" y="41422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349240" y="40325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Retention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349240" y="43251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loyalty rewards &amp; repeat-purchase email flows.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Prioritize HIGH impact recommendations for maximum ROI in the next 2 quarters.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Store Sales Analysis</dc:title>
  <dc:subject>PptxGenJS Presentation</dc:subject>
  <dc:creator>Sales Analytics Team</dc:creator>
  <cp:lastModifiedBy>Sales Analytics Team</cp:lastModifiedBy>
  <cp:revision>1</cp:revision>
  <dcterms:created xsi:type="dcterms:W3CDTF">2026-04-27T03:55:13Z</dcterms:created>
  <dcterms:modified xsi:type="dcterms:W3CDTF">2026-04-27T03:55:13Z</dcterms:modified>
</cp:coreProperties>
</file>